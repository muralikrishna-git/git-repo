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59" r:id="rId4"/>
    <p:sldId id="265" r:id="rId5"/>
    <p:sldId id="266" r:id="rId6"/>
    <p:sldId id="288" r:id="rId7"/>
    <p:sldId id="289" r:id="rId8"/>
    <p:sldId id="290" r:id="rId9"/>
    <p:sldId id="269" r:id="rId10"/>
    <p:sldId id="268" r:id="rId11"/>
    <p:sldId id="273" r:id="rId13"/>
    <p:sldId id="270" r:id="rId14"/>
    <p:sldId id="275" r:id="rId15"/>
    <p:sldId id="28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8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1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-528" y="-114"/>
      </p:cViewPr>
      <p:guideLst>
        <p:guide orient="horz" pos="2133"/>
        <p:guide pos="38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/>
          <p:nvPr/>
        </p:nvSpPr>
        <p:spPr>
          <a:xfrm>
            <a:off x="629920" y="336550"/>
            <a:ext cx="10777220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POLICE DEPARTMENT CHATBOT FOR FIR COMPLAINTS MANAGEMENT SYSTEM</a:t>
            </a:r>
            <a:r>
              <a:rPr lang="en-IN" altLang="en-US" sz="32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(Tentative Title)</a:t>
            </a:r>
            <a:endParaRPr lang="en-US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Text Box 5"/>
          <p:cNvSpPr txBox="1"/>
          <p:nvPr/>
        </p:nvSpPr>
        <p:spPr>
          <a:xfrm>
            <a:off x="6019800" y="5118100"/>
            <a:ext cx="5906770" cy="11455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sz="2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</a:rPr>
              <a:t>Presented By</a:t>
            </a:r>
            <a:endParaRPr sz="20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IN" sz="2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</a:rPr>
              <a:t>   </a:t>
            </a:r>
            <a:r>
              <a:rPr sz="2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</a:rPr>
              <a:t>P. Maria Raju</a:t>
            </a:r>
            <a:r>
              <a:rPr lang="en-IN" sz="2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</a:rPr>
              <a:t>,</a:t>
            </a:r>
            <a:endParaRPr lang="en-IN" sz="20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IN" sz="20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</a:rPr>
              <a:t> 23NE1D5808.</a:t>
            </a:r>
            <a:endParaRPr lang="en-IN" sz="20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Times New Roman" panose="02020603050405020304" pitchFamily="18" charset="0"/>
            </a:endParaRPr>
          </a:p>
        </p:txBody>
      </p:sp>
      <p:pic>
        <p:nvPicPr>
          <p:cNvPr id="3076" name="Google Shape;80;p15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905001"/>
            <a:ext cx="3108960" cy="202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069590" y="4092575"/>
            <a:ext cx="6400800" cy="889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>
                <a:schemeClr val="dk1"/>
              </a:buClr>
              <a:buSzPts val="1600"/>
            </a:pPr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ESTEEMED GUIDANCE OF</a:t>
            </a:r>
            <a:endParaRPr lang="en-IN" sz="24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0" algn="ctr">
              <a:spcBef>
                <a:spcPts val="320"/>
              </a:spcBef>
              <a:buClr>
                <a:schemeClr val="dk1"/>
              </a:buClr>
              <a:buSzPts val="1600"/>
            </a:pPr>
            <a:r>
              <a:rPr lang="en-IN" sz="24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S.ANIL KUMAR</a:t>
            </a:r>
            <a:r>
              <a:rPr lang="en-IN" sz="24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(Asso.Prof).</a:t>
            </a:r>
            <a:endParaRPr lang="en-IN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"/>
          <p:cNvSpPr txBox="1">
            <a:spLocks noChangeArrowheads="1"/>
          </p:cNvSpPr>
          <p:nvPr/>
        </p:nvSpPr>
        <p:spPr bwMode="auto">
          <a:xfrm>
            <a:off x="1981200" y="0"/>
            <a:ext cx="8382000" cy="59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 smtClean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kumimoji="0" lang="en-US" sz="3600" b="1" i="0" u="none" strike="noStrike" kern="1200" cap="none" spc="0" normalizeH="0" baseline="0" noProof="0" dirty="0" smtClean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099" name="Text Box 6"/>
          <p:cNvSpPr txBox="1"/>
          <p:nvPr/>
        </p:nvSpPr>
        <p:spPr>
          <a:xfrm>
            <a:off x="2286000" y="1214438"/>
            <a:ext cx="762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dirty="0">
              <a:latin typeface="Arial" panose="020B0604020202020204" pitchFamily="34" charset="0"/>
            </a:endParaRPr>
          </a:p>
        </p:txBody>
      </p:sp>
      <p:sp>
        <p:nvSpPr>
          <p:cNvPr id="3079" name="Rectangle 3"/>
          <p:cNvSpPr>
            <a:spLocks noChangeArrowheads="1"/>
          </p:cNvSpPr>
          <p:nvPr/>
        </p:nvSpPr>
        <p:spPr bwMode="auto">
          <a:xfrm>
            <a:off x="292100" y="584200"/>
            <a:ext cx="11048365" cy="6145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83235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endParaRPr kumimoji="0" lang="en-I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endParaRPr kumimoji="0" lang="en-I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6035" marR="0" lvl="0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None/>
              <a:defRPr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</a:t>
            </a:r>
            <a:endParaRPr kumimoji="0" lang="en-I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v"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IN" sz="28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Introduction</a:t>
            </a:r>
            <a:endParaRPr lang="en-IN" sz="2800" b="1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v"/>
              <a:defRPr/>
            </a:pPr>
            <a:r>
              <a:rPr lang="en-IN" altLang="en-US" sz="28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altLang="en-US" sz="28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Literature Review</a:t>
            </a:r>
            <a:endParaRPr lang="en-US" altLang="en-US" sz="2800" b="1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v"/>
              <a:defRPr/>
            </a:pPr>
            <a:r>
              <a:rPr lang="en-IN" altLang="en-US" sz="28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Gap Analysis </a:t>
            </a:r>
            <a:endParaRPr lang="en-IN" sz="2800" b="1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v"/>
              <a:defRPr/>
            </a:pPr>
            <a:r>
              <a:rPr lang="en-IN" sz="28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Objectives</a:t>
            </a:r>
            <a:endParaRPr kumimoji="0" lang="en-US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lvl="0" indent="-457200" algn="l" eaLnBrk="0" fontAlgn="base" hangingPunct="0">
              <a:spcBef>
                <a:spcPts val="335"/>
              </a:spcBef>
              <a:buClr>
                <a:schemeClr val="dk1"/>
              </a:buClr>
              <a:buSzPct val="100000"/>
              <a:buFont typeface="Wingdings" panose="05000000000000000000" charset="0"/>
              <a:buChar char="v"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sz="28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Motivation</a:t>
            </a: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l" defTabSz="914400" rtl="0" eaLnBrk="0" fontAlgn="base" latinLnBrk="0" hangingPunct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v"/>
              <a:defRPr/>
            </a:pPr>
            <a:r>
              <a:rPr kumimoji="0" lang="en-I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Methodology</a:t>
            </a:r>
            <a:endParaRPr kumimoji="0" lang="en-US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483235" marR="0" lvl="0" indent="-457200" algn="l" defTabSz="914400" rtl="0" eaLnBrk="0" fontAlgn="base" latinLnBrk="0" hangingPunct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ct val="100000"/>
              <a:defRPr/>
            </a:pPr>
            <a:endParaRPr kumimoji="0" lang="en-US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  <a:p>
            <a:pPr marL="26035" marR="0" lvl="0" algn="just" defTabSz="914400" rtl="0" eaLnBrk="0" fontAlgn="base" latinLnBrk="0" hangingPunct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defRPr/>
            </a:pPr>
            <a:r>
              <a:rPr kumimoji="0" lang="en-I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  <a:sym typeface="Times New Roman" panose="02020603050405020304"/>
              </a:rPr>
              <a:t>      </a:t>
            </a:r>
            <a:endParaRPr kumimoji="0" lang="en-I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  <a:sym typeface="Times New Roman" panose="02020603050405020304"/>
            </a:endParaRPr>
          </a:p>
          <a:p>
            <a:pPr marL="26035" marR="0" lvl="0" algn="just" defTabSz="914400" rtl="0" eaLnBrk="0" fontAlgn="base" latinLnBrk="0" hangingPunct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Times New Roman" panose="02020603050405020304"/>
              <a:sym typeface="Times New Roman" panose="02020603050405020304"/>
            </a:endParaRPr>
          </a:p>
          <a:p>
            <a:pPr marL="26035" marR="0" lvl="0" indent="0" algn="just" defTabSz="914400" rtl="0" eaLnBrk="0" fontAlgn="base" latinLnBrk="0" hangingPunct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/>
                <a:sym typeface="Times New Roman" panose="02020603050405020304"/>
              </a:rPr>
              <a:t> </a:t>
            </a:r>
            <a:endParaRPr kumimoji="0" lang="en-I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479540" y="1746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781800" y="1120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981450" y="357505"/>
            <a:ext cx="4064000" cy="76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altLang="en-US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sz="3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75080" y="2329815"/>
            <a:ext cx="4064000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300355" y="1120140"/>
            <a:ext cx="11606530" cy="5440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landscape of law enforcement has been undergoing a transformative shift with the advent of artificial intelligence (AI) and digital technologies. Traditional methods of managing police operations, particularly the handling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 Information Reports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(FIRs)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/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have been characterized by manual processes that are not only time-consuming but also prone to errors. These inefficiencies often result in delayed responses to criminal activities, increased administrative burdens, and diminished public trust in law enforcement agencies.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(NLP)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capabilities through platforms like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Google's Dialogflow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such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facilitate seamless interactions between administrators, police officers, and the public.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10940" y="0"/>
            <a:ext cx="4217670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600" b="1" noProof="0" dirty="0" smtClean="0">
                <a:ln>
                  <a:noFill/>
                </a:ln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ang="5400000" scaled="0"/>
                </a:gra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Literature Review</a:t>
            </a:r>
            <a:endParaRPr lang="en-US" altLang="en-US" sz="3600" b="1" noProof="0" dirty="0" smtClean="0">
              <a:ln>
                <a:noFill/>
              </a:ln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ang="5400000" scaled="0"/>
              </a:gradFill>
              <a:effectLst/>
              <a:uLnTx/>
              <a:uFillTx/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80795" y="589280"/>
            <a:ext cx="11948795" cy="6150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alt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255270" y="1005840"/>
            <a:ext cx="11715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-635" y="589915"/>
          <a:ext cx="12192635" cy="5570220"/>
        </p:xfrm>
        <a:graphic>
          <a:graphicData uri="http://schemas.openxmlformats.org/drawingml/2006/table">
            <a:tbl>
              <a:tblPr/>
              <a:tblGrid>
                <a:gridCol w="3747135"/>
                <a:gridCol w="2814955"/>
                <a:gridCol w="2814320"/>
                <a:gridCol w="2816225"/>
              </a:tblGrid>
              <a:tr h="4959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Aptos"/>
                        </a:rPr>
                        <a:t>Title</a:t>
                      </a:r>
                      <a:endParaRPr sz="2000" b="1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Aptos"/>
                        </a:rPr>
                        <a:t>Authors</a:t>
                      </a:r>
                      <a:endParaRPr sz="2000" b="1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Aptos"/>
                        </a:rPr>
                        <a:t>Methods Used</a:t>
                      </a:r>
                      <a:endParaRPr sz="2000" b="1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Aptos"/>
                        </a:rPr>
                        <a:t>Drawbacks</a:t>
                      </a:r>
                      <a:endParaRPr sz="2000" b="1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36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Natural Language Processing in Police Operations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Kumar, R., Singh, P., &amp; Gupta, S.</a:t>
                      </a:r>
                      <a:r>
                        <a:rPr lang="en-IN" sz="2000">
                          <a:latin typeface="Times New Roman" panose="02020603050405020304"/>
                          <a:ea typeface="Aptos"/>
                        </a:rPr>
                        <a:t>(2020)</a:t>
                      </a:r>
                      <a:endParaRPr lang="en-IN"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Experimental implementation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Lack of multilingual support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42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Effectiveness of AI-Driven FIR Management Systems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Lee, H., &amp; Park, S.</a:t>
                      </a:r>
                      <a:r>
                        <a:rPr lang="en-IN" sz="2000">
                          <a:latin typeface="Times New Roman" panose="02020603050405020304"/>
                          <a:ea typeface="Aptos"/>
                        </a:rPr>
                        <a:t>(2021)</a:t>
                      </a:r>
                      <a:endParaRPr lang="en-IN"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Comparative analysis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Need for user training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AI in Law Enforcement: Enhancing Operational Efficiency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Smith, J., Doe, A., &amp; Brown, L.</a:t>
                      </a:r>
                      <a:r>
                        <a:rPr lang="en-IN" sz="2000">
                          <a:latin typeface="Times New Roman" panose="02020603050405020304"/>
                          <a:ea typeface="Aptos"/>
                        </a:rPr>
                        <a:t>(2021)</a:t>
                      </a:r>
                      <a:endParaRPr lang="en-IN"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Case studies and statistical analysis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Data privacy concerns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10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Chatbots for Public Engagement in Law Enforcement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Johnson, K., &amp; Lee, M.</a:t>
                      </a:r>
                      <a:r>
                        <a:rPr lang="en-IN" sz="2000">
                          <a:latin typeface="Times New Roman" panose="02020603050405020304"/>
                          <a:ea typeface="Aptos"/>
                        </a:rPr>
                        <a:t>(2022)</a:t>
                      </a:r>
                      <a:endParaRPr lang="en-IN"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Surveys and user feedback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Limited handling of complex queries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23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Challenges of Implementing AI Systems in Policing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Davis, L., &amp; Martinez, E.</a:t>
                      </a:r>
                      <a:r>
                        <a:rPr lang="en-IN" sz="2000">
                          <a:latin typeface="Times New Roman" panose="02020603050405020304"/>
                          <a:ea typeface="Aptos"/>
                        </a:rPr>
                        <a:t>(2023)</a:t>
                      </a:r>
                      <a:endParaRPr lang="en-IN"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Qualitative interviews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Times New Roman" panose="02020603050405020304"/>
                          <a:ea typeface="Aptos"/>
                        </a:rPr>
                        <a:t>Budget constraints and resistance to change</a:t>
                      </a:r>
                      <a:endParaRPr sz="2000">
                        <a:latin typeface="Times New Roman" panose="02020603050405020304"/>
                        <a:ea typeface="Apto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EBEB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495935" y="1109345"/>
            <a:ext cx="11120120" cy="5017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Functional Gap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chatbot might handle basic complaint submissions but fail to capture all necessary FIR details (e.g., victim details, crime specifics, location).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Desired State: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chatbot should fully automate FIR submissions, validate information, and ensure completeness.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Gap: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Missing fields, incomplete automation, or lack of error-checking mechanisms.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may provide generic responses or struggle with local dialects, multiple languages, or legal terms.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04895" y="274955"/>
            <a:ext cx="4125595" cy="574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6035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None/>
              <a:defRPr/>
            </a:pPr>
            <a:r>
              <a:rPr lang="en-IN" altLang="en-US" sz="32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Gap Analysis  </a:t>
            </a:r>
            <a:endParaRPr 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78130" y="926465"/>
            <a:ext cx="11601450" cy="110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Desired State: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should communicate clearly in multiple languages, handle legal terminology, and be accessible to people from diverse backgrounds.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Gap: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handle multilingual or culturally sensitive queries effectively.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29940" y="179705"/>
            <a:ext cx="4064000" cy="517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2400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Gap Analysis</a:t>
            </a:r>
            <a:endParaRPr 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7593330" y="3017520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393940" y="2686685"/>
            <a:ext cx="4211320" cy="2898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237615" y="302260"/>
            <a:ext cx="2580005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2150" y="1555750"/>
            <a:ext cx="9715500" cy="603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615" y="989965"/>
            <a:ext cx="9745980" cy="30289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060450" y="4283075"/>
            <a:ext cx="9922510" cy="2314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Here is the visualization of a Police Department Chatbot interface for FIR Complaints Management. It showcases a user-friendly design emphasizing accessibility, security, and guided interactions for FIR submissions.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89045" y="91440"/>
            <a:ext cx="4613910" cy="504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sz="32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lang="en-US" sz="3200" b="1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6530" y="595630"/>
            <a:ext cx="11837670" cy="5551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Project</a:t>
            </a: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streamline FIR complaint management.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Enhance internal communication within police departments.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public accessibility to law enforcement services.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real-time updates and information to police officers and administrators.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Google's Dialogflow for natural language processing.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Tailored functionalities for administrators and police officers.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mechanisms for user access.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667125" y="167005"/>
            <a:ext cx="4117340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Motivation</a:t>
            </a:r>
            <a:endParaRPr lang="en-US" sz="3200" b="1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50545" y="852805"/>
            <a:ext cx="11379835" cy="5155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Efficiency: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FIR processes reduces processing times and minimizes human error, enhancing overall operational efficiency.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Accessibility: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chatbot provides round-the-clock access for the public to file FIRs and for officers to retrieve information, improving responsiveness.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Data Management: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 processing and centralized case management streamline information handling and tracking.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Internal Communication: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notifications and updates through the chatbot facilitate better coordination and timely information sharing within the department.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288030" y="234315"/>
            <a:ext cx="6096000" cy="617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Motivation</a:t>
            </a:r>
            <a:endParaRPr lang="en-US" sz="3200" b="1" dirty="0" smtClean="0">
              <a:solidFill>
                <a:srgbClr val="00B05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46710" y="948690"/>
            <a:ext cx="11367770" cy="5095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must ensure data privacy and secure access through robust authentication mechanisms.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chatbot should handle a growing number of users and interactions without performance degradation.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interface must be intuitive and user-friendly to facilitate easy adoption by all user groups.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maintain high uptime and be resilient to failures, ensuring continuous availability of services.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684905" y="111760"/>
            <a:ext cx="4496435" cy="525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200" b="1" noProof="0" dirty="0" smtClean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ang="5400000" scaled="0"/>
                </a:gra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  <a:endParaRPr lang="en-US" altLang="en-US" sz="3200" b="1" noProof="0" dirty="0" smtClean="0">
              <a:ln>
                <a:noFill/>
              </a:ln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ang="5400000" scaled="0"/>
              </a:gradFill>
              <a:effectLst/>
              <a:uLnTx/>
              <a:uFillTx/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2080" y="910590"/>
            <a:ext cx="12059920" cy="644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the police department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FIR complaints management system followed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 to ensure the creation of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solution. The project commenced with a comprehensive requirements analysis, identifying the specific needs of both administrators and police officers.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/>
              <a:t> Design</a:t>
            </a:r>
            <a:r>
              <a:rPr lang="en-IN" altLang="en-US" sz="2400" b="1" dirty="0" smtClean="0"/>
              <a:t>: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system design phase focused on architecting the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Google's Dialogflow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leveraging its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capabilities to facilitate intuitive interactions.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26670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sym typeface="+mn-ea"/>
              </a:rPr>
              <a:t>The chatbot interface was designed to be user-friendly, allowing seamless interaction through various platforms such as web and mobile applications.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05885" y="184785"/>
            <a:ext cx="457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noProof="0" dirty="0" smtClean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ang="5400000" scaled="0"/>
                </a:gra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  <a:endParaRPr lang="en-US" sz="3200" dirty="0"/>
          </a:p>
        </p:txBody>
      </p:sp>
      <p:sp>
        <p:nvSpPr>
          <p:cNvPr id="4" name="Text Box 3"/>
          <p:cNvSpPr txBox="1"/>
          <p:nvPr/>
        </p:nvSpPr>
        <p:spPr>
          <a:xfrm>
            <a:off x="297815" y="768350"/>
            <a:ext cx="11329670" cy="52990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algn="just" defTabSz="266700">
              <a:lnSpc>
                <a:spcPct val="150000"/>
              </a:lnSpc>
              <a:spcAft>
                <a:spcPts val="800"/>
              </a:spcAft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I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26670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involved the development of backend services to handle FIR registration, status tracking, and case history retrieval.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mtClean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endParaRPr sz="2400" smtClean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indent="-342900" algn="just" defTabSz="26670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Integration with existing police databases was achieved to enable real-time data access and updates.</a:t>
            </a:r>
            <a:endParaRPr lang="en-US" altLang="en-US" sz="2400" dirty="0" smtClean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indent="-342900" algn="just" defTabSz="26670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Extensive testing was conducted to validate the chatbot's functionality, including user acceptance testing with a group of police officers and administrators.</a:t>
            </a:r>
            <a:endParaRPr lang="en-US" altLang="en-US" sz="2400" dirty="0" smtClean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indent="-342900" algn="just" defTabSz="26670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Feedback from these sessions was used to refine the system, addressing any identified issues and enhancing overall performance.</a:t>
            </a:r>
            <a:endParaRPr lang="en-US" altLang="en-US" sz="2400" dirty="0" smtClean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indent="0" algn="just" defTabSz="26670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None/>
            </a:pPr>
            <a:endParaRPr sz="240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07365" y="1576705"/>
            <a:ext cx="11400790" cy="3723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eployment phase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altLang="en-US" b="1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deployment phase involved the integration of the chatbot into the police department's operational environment, accompanied by comprehensive training sessions for end-users.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aintenance and support were established to ensure the system remains up-to-date and responsive to evolving needs.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/>
          </a:p>
          <a:p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2529840" y="457200"/>
            <a:ext cx="6057265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 b="1" noProof="0" dirty="0" smtClean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ang="5400000" scaled="0"/>
                </a:gra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  <a:endParaRPr 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960*438"/>
  <p:tag name="TABLE_ENDDRAG_RECT" val="0*46*960*438"/>
</p:tagLst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5905</Words>
  <Application>WPS Presentation</Application>
  <PresentationFormat>Custom</PresentationFormat>
  <Paragraphs>150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Times New Roman</vt:lpstr>
      <vt:lpstr>Tahoma</vt:lpstr>
      <vt:lpstr>Wingdings</vt:lpstr>
      <vt:lpstr>Noto Sans Symbols</vt:lpstr>
      <vt:lpstr>Segoe Print</vt:lpstr>
      <vt:lpstr>Aptos</vt:lpstr>
      <vt:lpstr>Microsoft YaHei</vt:lpstr>
      <vt:lpstr>Arial Unicode MS</vt:lpstr>
      <vt:lpstr>Calibri</vt:lpstr>
      <vt:lpstr>Orange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LAKSHMI</dc:creator>
  <cp:lastModifiedBy>mariarajumis pasala</cp:lastModifiedBy>
  <cp:revision>34</cp:revision>
  <dcterms:created xsi:type="dcterms:W3CDTF">2024-08-06T23:08:00Z</dcterms:created>
  <dcterms:modified xsi:type="dcterms:W3CDTF">2025-01-21T05:43:47Z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447320D8E0494E4CAA99DDCF0F202979_11</vt:lpwstr>
  </property>
  <property fmtid="{D5CDD505-2E9C-101B-9397-08002B2CF9AE}" pid="3" name="KSOProductBuildVer">
    <vt:lpwstr>1033-12.2.0.19805</vt:lpwstr>
  </property>
</Properties>
</file>